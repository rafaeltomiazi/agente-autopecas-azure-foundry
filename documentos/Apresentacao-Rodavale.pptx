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737360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300">
                <a:solidFill>
                  <a:srgbClr val="7FC4D8"/>
                </a:solidFill>
                <a:latin typeface="Arial"/>
              </a:rPr>
              <a:t>KUMULUS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18028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EAF2F7"/>
                </a:solidFill>
                <a:latin typeface="Arial"/>
              </a:rPr>
              <a:t>Assistente de Catálogo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566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A8C6D8"/>
                </a:solidFill>
                <a:latin typeface="Arial"/>
              </a:rPr>
              <a:t>O vendedor pergunta como o cliente fala.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A8C6D8"/>
                </a:solidFill>
                <a:latin typeface="Arial"/>
              </a:rPr>
              <a:t>A resposta vem do catálogo.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846320"/>
            <a:ext cx="2926080" cy="18288"/>
          </a:xfrm>
          <a:prstGeom prst="rect">
            <a:avLst/>
          </a:prstGeom>
          <a:solidFill>
            <a:srgbClr val="2D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029200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F9AB3"/>
                </a:solidFill>
                <a:latin typeface="Arial"/>
              </a:rPr>
              <a:t>Rafael Tomiazi  ·  Rodavale Distribuidora de Autopeças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8028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AF2F7"/>
                </a:solidFill>
                <a:latin typeface="Arial"/>
              </a:rPr>
              <a:t>O que o vendedor consegue fazer agora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618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A capacidade que a solução entrega, antes de qualquer detalhe de como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664208"/>
            <a:ext cx="1463040" cy="32004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920240"/>
            <a:ext cx="10180289" cy="960120"/>
          </a:xfrm>
          <a:prstGeom prst="rect">
            <a:avLst/>
          </a:prstGeom>
          <a:solidFill>
            <a:srgbClr val="1C4260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2130552"/>
            <a:ext cx="954020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FC4D8"/>
                </a:solidFill>
                <a:latin typeface="Arial"/>
              </a:rPr>
              <a:t>"Agora eu pergunto o que serve num Onix 2018 1.4 e recebo as peças aplicáveis,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FC4D8"/>
                </a:solidFill>
                <a:latin typeface="Arial"/>
              </a:rPr>
              <a:t>o preço do meu cliente e o estoque — em segundos, na mesma conversa."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108960"/>
            <a:ext cx="10180289" cy="384048"/>
          </a:xfrm>
          <a:prstGeom prst="rect">
            <a:avLst/>
          </a:prstGeom>
          <a:solidFill>
            <a:srgbClr val="1C4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108960"/>
            <a:ext cx="4834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FC4D8"/>
                </a:solidFill>
                <a:latin typeface="Arial"/>
              </a:rPr>
              <a:t>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4000" y="3108960"/>
            <a:ext cx="4834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FC4D8"/>
                </a:solidFill>
                <a:latin typeface="Arial"/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493008"/>
            <a:ext cx="10180289" cy="384048"/>
          </a:xfrm>
          <a:prstGeom prst="rect">
            <a:avLst/>
          </a:prstGeom>
          <a:solidFill>
            <a:srgbClr val="163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3493008"/>
            <a:ext cx="4834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Procurar por código no sistema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4000" y="3493008"/>
            <a:ext cx="4834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Perguntar pelo veículo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877056"/>
            <a:ext cx="4834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Consultar um vendedor experiente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000" y="3877056"/>
            <a:ext cx="4834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Resposta imediata, sem depender de ninguém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261104"/>
            <a:ext cx="10180289" cy="384048"/>
          </a:xfrm>
          <a:prstGeom prst="rect">
            <a:avLst/>
          </a:prstGeom>
          <a:solidFill>
            <a:srgbClr val="163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4261104"/>
            <a:ext cx="4834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Abrir outra tela para o desconto do cliente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4000" y="4261104"/>
            <a:ext cx="4834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Cotação com a tabela do cliente aplicada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645152"/>
            <a:ext cx="4834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Chutar quando não acha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000" y="4645152"/>
            <a:ext cx="48341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O assistente diz que não existe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5120640"/>
            <a:ext cx="3210549" cy="118872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5840" y="5120640"/>
            <a:ext cx="3210549" cy="45720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584" y="5413248"/>
            <a:ext cx="273506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7FC4D8"/>
                </a:solidFill>
                <a:latin typeface="Arial"/>
              </a:rPr>
              <a:t>Perguntar pelo veículo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3584" y="5833872"/>
            <a:ext cx="273506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8C6D8"/>
                </a:solidFill>
                <a:latin typeface="Arial"/>
              </a:rPr>
              <a:t>Montadora, modelo, ano, motorização e posição da peça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90709" y="5120640"/>
            <a:ext cx="3210549" cy="118872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90709" y="5120640"/>
            <a:ext cx="3210549" cy="45720"/>
          </a:xfrm>
          <a:prstGeom prst="rect">
            <a:avLst/>
          </a:prstGeom>
          <a:solidFill>
            <a:srgbClr val="6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28453" y="5413248"/>
            <a:ext cx="273506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6FCF8E"/>
                </a:solidFill>
                <a:latin typeface="Arial"/>
              </a:rPr>
              <a:t>Cotar na hora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28453" y="5833872"/>
            <a:ext cx="273506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8C6D8"/>
                </a:solidFill>
                <a:latin typeface="Arial"/>
              </a:rPr>
              <a:t>Preço de tabela e desconto do cliente na mesma resposta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5578" y="5120640"/>
            <a:ext cx="3210549" cy="118872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75578" y="5120640"/>
            <a:ext cx="3210549" cy="45720"/>
          </a:xfrm>
          <a:prstGeom prst="rect">
            <a:avLst/>
          </a:prstGeom>
          <a:solidFill>
            <a:srgbClr val="A9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3322" y="5413248"/>
            <a:ext cx="273506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A99BE8"/>
                </a:solidFill>
                <a:latin typeface="Arial"/>
              </a:rPr>
              <a:t>Saber quando não existe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3322" y="5833872"/>
            <a:ext cx="273506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8C6D8"/>
                </a:solidFill>
                <a:latin typeface="Arial"/>
              </a:rPr>
              <a:t>Informa que não encontrou, sem sugerir parecido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8028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AF2F7"/>
                </a:solidFill>
                <a:latin typeface="Arial"/>
              </a:rPr>
              <a:t>Por que isso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618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O cliente não liga pedindo um código. Ele pergunta se a peça serve no carro dele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664208"/>
            <a:ext cx="1463040" cy="32004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2194560"/>
            <a:ext cx="3241029" cy="146304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423160"/>
            <a:ext cx="2783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F2F7"/>
                </a:solidFill>
                <a:latin typeface="Arial"/>
              </a:rPr>
              <a:t>11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944368"/>
            <a:ext cx="2783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8C6D8"/>
                </a:solidFill>
                <a:latin typeface="Arial"/>
              </a:rPr>
              <a:t>tempo médio de atendimento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5469" y="2194560"/>
            <a:ext cx="3241029" cy="146304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4069" y="2423160"/>
            <a:ext cx="2783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F2F7"/>
                </a:solidFill>
                <a:latin typeface="Arial"/>
              </a:rPr>
              <a:t>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4069" y="2944368"/>
            <a:ext cx="2783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8C6D8"/>
                </a:solidFill>
                <a:latin typeface="Arial"/>
              </a:rPr>
              <a:t>chamadas que exigem retorno posterior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45098" y="2194560"/>
            <a:ext cx="3241029" cy="146304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3698" y="2423160"/>
            <a:ext cx="2783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8A857"/>
                </a:solidFill>
                <a:latin typeface="Arial"/>
              </a:rPr>
              <a:t>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698" y="2944368"/>
            <a:ext cx="2783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8C6D8"/>
                </a:solidFill>
                <a:latin typeface="Arial"/>
              </a:rPr>
              <a:t>pedidos perdidos por demora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4114800"/>
            <a:ext cx="10180289" cy="91440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343400"/>
            <a:ext cx="954020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FC4D8"/>
                </a:solidFill>
                <a:latin typeface="Arial"/>
              </a:rPr>
              <a:t>Causa raiz: </a:t>
            </a:r>
            <a:r>
              <a:rPr sz="1400" b="0">
                <a:solidFill>
                  <a:srgbClr val="EAF2F7"/>
                </a:solidFill>
                <a:latin typeface="Arial"/>
              </a:rPr>
              <a:t>a tradução entre "meu carro" e "este código" acontece na memória de dois vendedores experientes.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49240"/>
            <a:ext cx="1018028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Quando esses dois estão ocupados, a fila para. Quando um deles sai, o conhecimento sai com ele.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62910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F9AB3"/>
                </a:solidFill>
                <a:latin typeface="Arial"/>
              </a:rPr>
              <a:t>Premissas levantadas na pré-venda. A descoberta mede os números reais da operação.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8028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AF2F7"/>
                </a:solidFill>
                <a:latin typeface="Arial"/>
              </a:rP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618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Um ponto de entrada para o vendedor. Três responsabilidades separadas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664208"/>
            <a:ext cx="1463040" cy="32004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2011680"/>
            <a:ext cx="3210549" cy="155448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2011680"/>
            <a:ext cx="3210549" cy="45720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304288"/>
            <a:ext cx="273506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FC4D8"/>
                </a:solidFill>
                <a:latin typeface="Arial"/>
              </a:rPr>
              <a:t>Triagem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2724912"/>
            <a:ext cx="273506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8C6D8"/>
                </a:solidFill>
                <a:latin typeface="Arial"/>
              </a:rPr>
              <a:t>Entende o que foi pedido e encaminha para quem responde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709" y="2011680"/>
            <a:ext cx="3210549" cy="155448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90709" y="2011680"/>
            <a:ext cx="3210549" cy="45720"/>
          </a:xfrm>
          <a:prstGeom prst="rect">
            <a:avLst/>
          </a:prstGeom>
          <a:solidFill>
            <a:srgbClr val="6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8453" y="2304288"/>
            <a:ext cx="273506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6FCF8E"/>
                </a:solidFill>
                <a:latin typeface="Arial"/>
              </a:rPr>
              <a:t>Especialista de peças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8453" y="2724912"/>
            <a:ext cx="273506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8C6D8"/>
                </a:solidFill>
                <a:latin typeface="Arial"/>
              </a:rPr>
              <a:t>Compatibilidade, código, marca, preço de tabela e saldo por filial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5578" y="2011680"/>
            <a:ext cx="3210549" cy="155448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5578" y="2011680"/>
            <a:ext cx="3210549" cy="45720"/>
          </a:xfrm>
          <a:prstGeom prst="rect">
            <a:avLst/>
          </a:prstGeom>
          <a:solidFill>
            <a:srgbClr val="A9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3322" y="2304288"/>
            <a:ext cx="273506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99BE8"/>
                </a:solidFill>
                <a:latin typeface="Arial"/>
              </a:rPr>
              <a:t>Especialista de preço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3322" y="2724912"/>
            <a:ext cx="273506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8C6D8"/>
                </a:solidFill>
                <a:latin typeface="Arial"/>
              </a:rPr>
              <a:t>Cliente, tabela, desconto e cotação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840480"/>
            <a:ext cx="10180289" cy="868680"/>
          </a:xfrm>
          <a:prstGeom prst="rect">
            <a:avLst/>
          </a:prstGeom>
          <a:solidFill>
            <a:srgbClr val="1C4260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4041648"/>
            <a:ext cx="954020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FC4D8"/>
                </a:solidFill>
                <a:latin typeface="Arial"/>
              </a:rPr>
              <a:t>Na cotação, os dois trabalham em sequência. </a:t>
            </a:r>
            <a:r>
              <a:rPr sz="1300" b="0">
                <a:solidFill>
                  <a:srgbClr val="EAF2F7"/>
                </a:solidFill>
                <a:latin typeface="Arial"/>
              </a:rPr>
              <a:t>O especialista de peças confirma a peça antes de o de preço aplicar o desconto. Ninguém dá preço de peça que não confirmou.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5010912"/>
            <a:ext cx="64008" cy="64008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07008" y="4937760"/>
            <a:ext cx="99791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EAF2F7"/>
                </a:solidFill>
                <a:latin typeface="Arial"/>
              </a:rPr>
              <a:t>Ancorado no catálogo. </a:t>
            </a:r>
            <a:r>
              <a:rPr sz="1250" b="0">
                <a:solidFill>
                  <a:srgbClr val="A8C6D8"/>
                </a:solidFill>
                <a:latin typeface="Arial"/>
              </a:rPr>
              <a:t>Não inventa código, preço nem saldo.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5431536"/>
            <a:ext cx="64008" cy="64008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07008" y="5358384"/>
            <a:ext cx="99791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EAF2F7"/>
                </a:solidFill>
                <a:latin typeface="Arial"/>
              </a:rPr>
              <a:t>Somente consulta. </a:t>
            </a:r>
            <a:r>
              <a:rPr sz="1250" b="0">
                <a:solidFill>
                  <a:srgbClr val="A8C6D8"/>
                </a:solidFill>
                <a:latin typeface="Arial"/>
              </a:rPr>
              <a:t>Não cria pedido, reserva nem aprovação de crédito.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5852160"/>
            <a:ext cx="64008" cy="64008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07008" y="5779008"/>
            <a:ext cx="99791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EAF2F7"/>
                </a:solidFill>
                <a:latin typeface="Arial"/>
              </a:rPr>
              <a:t>O vendedor decide. </a:t>
            </a:r>
            <a:r>
              <a:rPr sz="1250" b="0">
                <a:solidFill>
                  <a:srgbClr val="A8C6D8"/>
                </a:solidFill>
                <a:latin typeface="Arial"/>
              </a:rPr>
              <a:t>O assistente apresenta opções; a recomendação continua sendo do profissional.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8028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AF2F7"/>
                </a:solidFill>
                <a:latin typeface="Arial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618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Três perguntas, com os dados do catálogo da Rodavale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664208"/>
            <a:ext cx="1463040" cy="32004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80289" cy="640080"/>
          </a:xfrm>
          <a:prstGeom prst="rect">
            <a:avLst/>
          </a:prstGeom>
          <a:solidFill>
            <a:srgbClr val="1C4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148840"/>
            <a:ext cx="2992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7FC4D8"/>
                </a:solidFill>
                <a:latin typeface="Arial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9144" y="2148840"/>
            <a:ext cx="437137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7FC4D8"/>
                </a:solidFill>
                <a:latin typeface="Arial"/>
              </a:rPr>
              <a:t>O que vou perguntar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6548" y="2148840"/>
            <a:ext cx="474156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7FC4D8"/>
                </a:solidFill>
                <a:latin typeface="Arial"/>
              </a:rPr>
              <a:t>O que observar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788920"/>
            <a:ext cx="10180289" cy="640080"/>
          </a:xfrm>
          <a:prstGeom prst="rect">
            <a:avLst/>
          </a:prstGeom>
          <a:solidFill>
            <a:srgbClr val="163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788920"/>
            <a:ext cx="2992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7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9144" y="2788920"/>
            <a:ext cx="437137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7"/>
                </a:solidFill>
                <a:latin typeface="Arial"/>
              </a:rPr>
              <a:t>Pastilha dianteira para Onix 2018 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6548" y="2788920"/>
            <a:ext cx="474156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7"/>
                </a:solidFill>
                <a:latin typeface="Arial"/>
              </a:rPr>
              <a:t>Filtra por ano e motorização, não só pelo nome da peça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29000"/>
            <a:ext cx="2992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7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89144" y="3429000"/>
            <a:ext cx="437137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7"/>
                </a:solidFill>
                <a:latin typeface="Arial"/>
              </a:rPr>
              <a:t>Cotação da RV-1002 para a Auto Center Central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6548" y="3429000"/>
            <a:ext cx="474156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7"/>
                </a:solidFill>
                <a:latin typeface="Arial"/>
              </a:rPr>
              <a:t>Confirma a peça e depois aplica o desconto do cliente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4069079"/>
            <a:ext cx="10180289" cy="640080"/>
          </a:xfrm>
          <a:prstGeom prst="rect">
            <a:avLst/>
          </a:prstGeom>
          <a:solidFill>
            <a:srgbClr val="163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069079"/>
            <a:ext cx="2992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7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9144" y="4069079"/>
            <a:ext cx="437137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7"/>
                </a:solidFill>
                <a:latin typeface="Arial"/>
              </a:rPr>
              <a:t>Pastilha para uma Kia Sportage 2020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6548" y="4069079"/>
            <a:ext cx="474156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AF2F7"/>
                </a:solidFill>
                <a:latin typeface="Arial"/>
              </a:rPr>
              <a:t>Não existe na base. O assistente diz isso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937760"/>
            <a:ext cx="10180289" cy="91440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5166360"/>
            <a:ext cx="954020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FC4D8"/>
                </a:solidFill>
                <a:latin typeface="Arial"/>
              </a:rPr>
              <a:t>O caso 3 é tão importante quanto a cotação. </a:t>
            </a:r>
            <a:r>
              <a:rPr sz="1400" b="0">
                <a:solidFill>
                  <a:srgbClr val="EAF2F7"/>
                </a:solidFill>
                <a:latin typeface="Arial"/>
              </a:rPr>
              <a:t>É o que evita vender peça incompatível.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8028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AF2F7"/>
                </a:solidFill>
                <a:latin typeface="Arial"/>
              </a:rPr>
              <a:t>O que conseguimos provar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618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Seis casos testados com gabarito conferido na base. Seis aprovados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664208"/>
            <a:ext cx="1463040" cy="32004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2011680"/>
            <a:ext cx="10180289" cy="384048"/>
          </a:xfrm>
          <a:prstGeom prst="rect">
            <a:avLst/>
          </a:prstGeom>
          <a:solidFill>
            <a:srgbClr val="1C4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011680"/>
            <a:ext cx="422329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FC4D8"/>
                </a:solidFill>
                <a:latin typeface="Arial"/>
              </a:rPr>
              <a:t>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3183" y="2011680"/>
            <a:ext cx="544492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FC4D8"/>
                </a:solidFill>
                <a:latin typeface="Arial"/>
              </a:rPr>
              <a:t>Resultado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395728"/>
            <a:ext cx="10180289" cy="384048"/>
          </a:xfrm>
          <a:prstGeom prst="rect">
            <a:avLst/>
          </a:prstGeom>
          <a:solidFill>
            <a:srgbClr val="163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2395728"/>
            <a:ext cx="422329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Consulta por veículo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3183" y="2395728"/>
            <a:ext cx="544492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Cinco peças corretas, exclui a que é só de motor 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2779776"/>
            <a:ext cx="422329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Consulta comercial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3183" y="2779776"/>
            <a:ext cx="544492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Cliente localizado, tabela correta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3163824"/>
            <a:ext cx="10180289" cy="384048"/>
          </a:xfrm>
          <a:prstGeom prst="rect">
            <a:avLst/>
          </a:prstGeom>
          <a:solidFill>
            <a:srgbClr val="163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163824"/>
            <a:ext cx="422329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Cotação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3183" y="3163824"/>
            <a:ext cx="544492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Preço de tabela com o desconto do cliente aplicado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3547872"/>
            <a:ext cx="422329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Conversa em duas mensagens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3183" y="3547872"/>
            <a:ext cx="544492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Mantém o contexto e respeita a faixa de anos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3931920"/>
            <a:ext cx="10180289" cy="384048"/>
          </a:xfrm>
          <a:prstGeom prst="rect">
            <a:avLst/>
          </a:prstGeom>
          <a:solidFill>
            <a:srgbClr val="163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3931920"/>
            <a:ext cx="422329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Peça fora da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3183" y="3931920"/>
            <a:ext cx="544492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Informa que não encontrou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315968"/>
            <a:ext cx="422329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Pergunta fora do assunto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3183" y="4315968"/>
            <a:ext cx="544492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Responde o escopo do assistente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846320"/>
            <a:ext cx="4952984" cy="123444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61872" y="5047488"/>
            <a:ext cx="4440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50">
                <a:solidFill>
                  <a:srgbClr val="7FC4D8"/>
                </a:solidFill>
                <a:latin typeface="Arial"/>
              </a:rPr>
              <a:t>ESCOPO DA EVIDÊNCIA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5394960"/>
            <a:ext cx="4440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8C6D8"/>
                </a:solidFill>
                <a:latin typeface="Arial"/>
              </a:rPr>
              <a:t>3.367 aplicações veiculares, 194 produtos, 90 clientes e 24 regras de desconto, sobre uma posição de catálogo datada.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144" y="4846320"/>
            <a:ext cx="4952984" cy="123444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9176" y="5047488"/>
            <a:ext cx="4440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50">
                <a:solidFill>
                  <a:srgbClr val="E8A857"/>
                </a:solidFill>
                <a:latin typeface="Arial"/>
              </a:rPr>
              <a:t>O QUE A PRÓXIMA ETAPA MEDE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9176" y="5394960"/>
            <a:ext cx="4440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8C6D8"/>
                </a:solidFill>
                <a:latin typeface="Arial"/>
              </a:rPr>
              <a:t>O catálogo completo de 18.000 SKUs, o uso simultâneo pela equipe e a atualização a partir do ERP.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8028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AF2F7"/>
                </a:solidFill>
                <a:latin typeface="Arial"/>
              </a:rPr>
              <a:t>O que isso significa para a decisão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618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Três respostas, na ordem em que importam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664208"/>
            <a:ext cx="1463040" cy="32004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7FC4D8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093976"/>
            <a:ext cx="935732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2F7"/>
                </a:solidFill>
                <a:latin typeface="Arial"/>
              </a:rPr>
              <a:t>A hipótese se confirmou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532888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O vendedor resolve aplicação, preço e estoque em uma conversa — sem desenvolver sistema e sem infraestrutura para a TI manter.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E8A857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36976"/>
            <a:ext cx="935732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2F7"/>
                </a:solidFill>
                <a:latin typeface="Arial"/>
              </a:rPr>
              <a:t>O ambiente real ainda precisa ser mapeado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675888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Catálogo completo, ERP, volume de atendimento e perfis de acesso.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434840"/>
            <a:ext cx="10180289" cy="1371600"/>
          </a:xfrm>
          <a:prstGeom prst="rect">
            <a:avLst/>
          </a:prstGeom>
          <a:solidFill>
            <a:srgbClr val="1C4260"/>
          </a:solidFill>
          <a:ln w="9525">
            <a:solidFill>
              <a:srgbClr val="7FC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6634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6FCF8E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4700016"/>
            <a:ext cx="853436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EAF2F7"/>
                </a:solidFill>
                <a:latin typeface="Arial"/>
              </a:rPr>
              <a:t>A decisão de hoje é seguir para o ambiente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5138928"/>
            <a:ext cx="853436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Não é aprovar o projeto inteiro. É confirmar que vale medir isso com os dados e os processos reais da Rodavale.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8028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AF2F7"/>
                </a:solidFill>
                <a:latin typeface="Arial"/>
              </a:rPr>
              <a:t>Próximo passo e 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618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O que se decide agora, e quanto custa decidir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664208"/>
            <a:ext cx="1463040" cy="32004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2011680"/>
            <a:ext cx="10180289" cy="731520"/>
          </a:xfrm>
          <a:prstGeom prst="rect">
            <a:avLst/>
          </a:prstGeom>
          <a:solidFill>
            <a:srgbClr val="1C4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011680"/>
            <a:ext cx="21285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FC4D8"/>
                </a:solidFill>
                <a:latin typeface="Arial"/>
              </a:rPr>
              <a:t>Etapa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8428" y="2011680"/>
            <a:ext cx="21285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FC4D8"/>
                </a:solidFill>
                <a:latin typeface="Arial"/>
              </a:rPr>
              <a:t>Valor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3000" y="2011680"/>
            <a:ext cx="515511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FC4D8"/>
                </a:solidFill>
                <a:latin typeface="Arial"/>
              </a:rPr>
              <a:t>O que entrega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743200"/>
            <a:ext cx="10180289" cy="731520"/>
          </a:xfrm>
          <a:prstGeom prst="rect">
            <a:avLst/>
          </a:prstGeom>
          <a:solidFill>
            <a:srgbClr val="163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743200"/>
            <a:ext cx="21285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EAF2F7"/>
                </a:solidFill>
                <a:latin typeface="Arial"/>
              </a:rPr>
              <a:t>Assinatura mensal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428" y="2743200"/>
            <a:ext cx="21285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EAF2F7"/>
                </a:solidFill>
                <a:latin typeface="Arial"/>
              </a:rPr>
              <a:t>R$ 4.500/mês · 12 meses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3000" y="2743200"/>
            <a:ext cx="515511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EAF2F7"/>
                </a:solidFill>
                <a:latin typeface="Arial"/>
              </a:rPr>
              <a:t>Implantação, integração com o ERP, sustentação e evolução. Sem investimento inicial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1285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EAF2F7"/>
                </a:solidFill>
                <a:latin typeface="Arial"/>
              </a:rPr>
              <a:t>Primeiro mês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8428" y="3474720"/>
            <a:ext cx="21285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EAF2F7"/>
                </a:solidFill>
                <a:latin typeface="Arial"/>
              </a:rPr>
              <a:t>Descoberta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3000" y="3474720"/>
            <a:ext cx="515511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EAF2F7"/>
                </a:solidFill>
                <a:latin typeface="Arial"/>
              </a:rPr>
              <a:t>Levanta ERP, catálogo e acessos. Confirma ou ajusta o valor antes do compromisso de 12 meses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34840"/>
            <a:ext cx="1018028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8C6D8"/>
                </a:solidFill>
                <a:latin typeface="Arial"/>
              </a:rPr>
              <a:t>Não há investimento inicial. O consumo do Azure é faturado pelo provedor e dimensionado na descoberta, conforme volume de consultas e de buscas no catálogo.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4937760"/>
            <a:ext cx="10180289" cy="868680"/>
          </a:xfrm>
          <a:prstGeom prst="rect">
            <a:avLst/>
          </a:prstGeom>
          <a:solidFill>
            <a:srgbClr val="1C4260"/>
          </a:solidFill>
          <a:ln w="9525">
            <a:solidFill>
              <a:srgbClr val="7FC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157216"/>
            <a:ext cx="954020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FC4D8"/>
                </a:solidFill>
                <a:latin typeface="Arial"/>
              </a:rPr>
              <a:t>R$ 4.500 por mês contra uma economia estimada de R$ 9.900 por mês. </a:t>
            </a:r>
            <a:r>
              <a:rPr sz="1400" b="0">
                <a:solidFill>
                  <a:srgbClr val="EAF2F7"/>
                </a:solidFill>
                <a:latin typeface="Arial"/>
              </a:rPr>
              <a:t>A conta fecha já no primeiro mês — e é isso que a descoberta vai medir.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62910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F9AB3"/>
                </a:solidFill>
                <a:latin typeface="Arial"/>
              </a:rPr>
              <a:t>Base da economia estimada: 4 minutos por atendimento, 270 atendimentos por dia, 22 dias — cerca de 396 horas por mês. É premissa de pré-venda, não medição.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AF2F7"/>
                </a:solidFill>
                <a:latin typeface="Arial"/>
              </a:rPr>
              <a:t>O que o vendedor fez aqui com 3.367 aplicações,</a:t>
            </a:r>
          </a:p>
          <a:p>
            <a:pPr algn="l">
              <a:lnSpc>
                <a:spcPct val="125000"/>
              </a:lnSpc>
            </a:pPr>
            <a:r>
              <a:rPr sz="3000" b="1">
                <a:solidFill>
                  <a:srgbClr val="EAF2F7"/>
                </a:solidFill>
                <a:latin typeface="Arial"/>
              </a:rPr>
              <a:t>ele faz com o catálogo inteiro.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5760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A8C6D8"/>
                </a:solidFill>
                <a:latin typeface="Arial"/>
              </a:rPr>
              <a:t>O que muda é a origem do dado, não a experiência.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4389120"/>
            <a:ext cx="2926080" cy="18288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617720"/>
            <a:ext cx="1018028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AF2F7"/>
                </a:solidFill>
                <a:latin typeface="Arial"/>
              </a:rPr>
              <a:t>Obrigado.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166360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Rafael Tomiazi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760720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F9AB3"/>
                </a:solidFill>
                <a:latin typeface="Arial"/>
              </a:rPr>
              <a:t>Proposta comercial  ·  Documentação técnica  ·  Solução funcional no Microsoft Foundry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A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10896"/>
            <a:ext cx="1018028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spc="200">
                <a:solidFill>
                  <a:srgbClr val="E8A857"/>
                </a:solidFill>
                <a:latin typeface="Arial"/>
              </a:rPr>
              <a:t>ANEXO  ·  NÃO APRESENTADO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8028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AF2F7"/>
                </a:solidFill>
                <a:latin typeface="Arial"/>
              </a:rPr>
              <a:t>O requisito do desafio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2618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Anexo — o enunciado e como ele foi atendido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664208"/>
            <a:ext cx="1463040" cy="32004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Simular um ciclo completo de pré-vendas e entrega: criar o cliente, diagnosticar o problema, propor e implementar.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560320"/>
            <a:ext cx="10180289" cy="822960"/>
          </a:xfrm>
          <a:prstGeom prst="rect">
            <a:avLst/>
          </a:prstGeom>
          <a:solidFill>
            <a:srgbClr val="1C4260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788920"/>
            <a:ext cx="954020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FC4D8"/>
                </a:solidFill>
                <a:latin typeface="Arial"/>
              </a:rPr>
              <a:t>Requisito da revisão: </a:t>
            </a:r>
            <a:r>
              <a:rPr sz="1300" b="0">
                <a:solidFill>
                  <a:srgbClr val="EAF2F7"/>
                </a:solidFill>
                <a:latin typeface="Arial"/>
              </a:rPr>
              <a:t>arquitetura multiagente, com no mínimo três agentes e um orquestrador, configurada sem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50">
                <a:solidFill>
                  <a:srgbClr val="7FC4D8"/>
                </a:solidFill>
                <a:latin typeface="Arial"/>
              </a:rPr>
              <a:t>COMO FOI ATENDIDO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69080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6FCF8E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0690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EAF2F7"/>
                </a:solidFill>
                <a:latin typeface="Arial"/>
              </a:rPr>
              <a:t>orquestrador-rodavale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0690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8C6D8"/>
                </a:solidFill>
                <a:latin typeface="Arial"/>
              </a:rPr>
              <a:t>recebe a pergunta, identifica o domínio e define a rota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4456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6FCF8E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4456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EAF2F7"/>
                </a:solidFill>
                <a:latin typeface="Arial"/>
              </a:rPr>
              <a:t>especialista-catalogo-estoque-rodavale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44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8C6D8"/>
                </a:solidFill>
                <a:latin typeface="Arial"/>
              </a:rPr>
              <a:t>compatibilidade, código, preço de tabela e saldo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20056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6FCF8E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20056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EAF2F7"/>
                </a:solidFill>
                <a:latin typeface="Arial"/>
              </a:rPr>
              <a:t>especialista-comercial-rodavale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502005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8C6D8"/>
                </a:solidFill>
                <a:latin typeface="Arial"/>
              </a:rPr>
              <a:t>cliente, tabela, desconto e cotação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62910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F9AB3"/>
                </a:solidFill>
                <a:latin typeface="Arial"/>
              </a:rPr>
              <a:t>Roteamento visual no Workflow do Foundry. Nenhuma linha de código é executada durante o atendimento.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A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10896"/>
            <a:ext cx="1018028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spc="200">
                <a:solidFill>
                  <a:srgbClr val="E8A857"/>
                </a:solidFill>
                <a:latin typeface="Arial"/>
              </a:rPr>
              <a:t>ANEXO  ·  NÃO APRESENTADO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8028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AF2F7"/>
                </a:solidFill>
                <a:latin typeface="Arial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2618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Anexo — roteamento configurado no portal, sem código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664208"/>
            <a:ext cx="1463040" cy="32004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68880" y="2011680"/>
            <a:ext cx="2377440" cy="457200"/>
          </a:xfrm>
          <a:prstGeom prst="rect">
            <a:avLst/>
          </a:prstGeom>
          <a:solidFill>
            <a:srgbClr val="1C4260"/>
          </a:solidFill>
          <a:ln w="9525">
            <a:solidFill>
              <a:srgbClr val="7FC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0116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7FC4D8"/>
                </a:solidFill>
                <a:latin typeface="Arial"/>
              </a:rPr>
              <a:t>Orquestrador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2743200"/>
            <a:ext cx="2377440" cy="438912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74320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6FCF8E"/>
                </a:solidFill>
                <a:latin typeface="Arial"/>
              </a:rPr>
              <a:t>CATALOGO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0" y="2953512"/>
            <a:ext cx="411480" cy="18288"/>
          </a:xfrm>
          <a:prstGeom prst="rect">
            <a:avLst/>
          </a:prstGeom>
          <a:solidFill>
            <a:srgbClr val="2D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2743200"/>
            <a:ext cx="3108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A8C6D8"/>
                </a:solidFill>
                <a:latin typeface="Arial"/>
              </a:rPr>
              <a:t>Catálogo e Estoque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3310128"/>
            <a:ext cx="2377440" cy="438912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3310128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E8A857"/>
                </a:solidFill>
                <a:latin typeface="Arial"/>
              </a:rPr>
              <a:t>COTACAO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3520440"/>
            <a:ext cx="411480" cy="18288"/>
          </a:xfrm>
          <a:prstGeom prst="rect">
            <a:avLst/>
          </a:prstGeom>
          <a:solidFill>
            <a:srgbClr val="2D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3310128"/>
            <a:ext cx="3108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A8C6D8"/>
                </a:solidFill>
                <a:latin typeface="Arial"/>
              </a:rPr>
              <a:t>Catálogo → Comercial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0" y="3877056"/>
            <a:ext cx="2377440" cy="438912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0" y="3877056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A99BE8"/>
                </a:solidFill>
                <a:latin typeface="Arial"/>
              </a:rPr>
              <a:t>COMERCIAL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4087368"/>
            <a:ext cx="411480" cy="18288"/>
          </a:xfrm>
          <a:prstGeom prst="rect">
            <a:avLst/>
          </a:prstGeom>
          <a:solidFill>
            <a:srgbClr val="2D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0" y="3877056"/>
            <a:ext cx="3108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A8C6D8"/>
                </a:solidFill>
                <a:latin typeface="Arial"/>
              </a:rPr>
              <a:t>Comercial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4443984"/>
            <a:ext cx="2377440" cy="438912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4443984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6F9AB3"/>
                </a:solidFill>
                <a:latin typeface="Arial"/>
              </a:rPr>
              <a:t>Else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4654296"/>
            <a:ext cx="411480" cy="18288"/>
          </a:xfrm>
          <a:prstGeom prst="rect">
            <a:avLst/>
          </a:prstGeom>
          <a:solidFill>
            <a:srgbClr val="2D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0" y="4443984"/>
            <a:ext cx="3108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A8C6D8"/>
                </a:solidFill>
                <a:latin typeface="Arial"/>
              </a:rPr>
              <a:t>Mensagem padrão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011680"/>
            <a:ext cx="3139409" cy="361188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286000"/>
            <a:ext cx="259076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F9AB3"/>
                </a:solidFill>
                <a:latin typeface="Arial"/>
              </a:rPr>
              <a:t>Interface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523744"/>
            <a:ext cx="25907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AF2F7"/>
                </a:solidFill>
                <a:latin typeface="Arial"/>
              </a:rPr>
              <a:t>Microsoft Foundry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944368"/>
            <a:ext cx="259076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F9AB3"/>
                </a:solidFill>
                <a:latin typeface="Arial"/>
              </a:rPr>
              <a:t>Orquestração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182112"/>
            <a:ext cx="25907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AF2F7"/>
                </a:solidFill>
                <a:latin typeface="Arial"/>
              </a:rPr>
              <a:t>Workflow do Foundry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3602736"/>
            <a:ext cx="259076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F9AB3"/>
                </a:solidFill>
                <a:latin typeface="Arial"/>
              </a:rPr>
              <a:t>Agentes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840480"/>
            <a:ext cx="25907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AF2F7"/>
                </a:solidFill>
                <a:latin typeface="Arial"/>
              </a:rPr>
              <a:t>Foundry Agent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261104"/>
            <a:ext cx="259076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F9AB3"/>
                </a:solidFill>
                <a:latin typeface="Arial"/>
              </a:rPr>
              <a:t>Modelo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498848"/>
            <a:ext cx="25907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AF2F7"/>
                </a:solidFill>
                <a:latin typeface="Arial"/>
              </a:rPr>
              <a:t>GPT-5-mini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919472"/>
            <a:ext cx="259076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F9AB3"/>
                </a:solidFill>
                <a:latin typeface="Arial"/>
              </a:rPr>
              <a:t>Conhecimento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5157216"/>
            <a:ext cx="259076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AF2F7"/>
                </a:solidFill>
                <a:latin typeface="Arial"/>
              </a:rPr>
              <a:t>File Search — catálogo,</a:t>
            </a:r>
          </a:p>
          <a:p>
            <a:pPr algn="l"/>
            <a:r>
              <a:rPr sz="1200" b="0">
                <a:solidFill>
                  <a:srgbClr val="EAF2F7"/>
                </a:solidFill>
                <a:latin typeface="Arial"/>
              </a:rPr>
              <a:t>índice de SKUs e base comercial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62910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F9AB3"/>
                </a:solidFill>
                <a:latin typeface="Arial"/>
              </a:rPr>
              <a:t>Quem executa o encaminhamento é o fluxo, não o modelo. O caminho percorrido fica explícito no rastreamento de cada execução.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A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10896"/>
            <a:ext cx="1018028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spc="200">
                <a:solidFill>
                  <a:srgbClr val="E8A857"/>
                </a:solidFill>
                <a:latin typeface="Arial"/>
              </a:rPr>
              <a:t>ANEXO  ·  NÃO APRESENTADO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8028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AF2F7"/>
                </a:solidFill>
                <a:latin typeface="Arial"/>
              </a:rPr>
              <a:t>Decisões técnicas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2618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Anexo — o que foi escolhido, e por quê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664208"/>
            <a:ext cx="1463040" cy="32004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2011680"/>
            <a:ext cx="36576" cy="566928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99516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7"/>
                </a:solidFill>
                <a:latin typeface="Arial"/>
              </a:rPr>
              <a:t>Três agentes, não 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86000"/>
            <a:ext cx="99516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8C6D8"/>
                </a:solidFill>
                <a:latin typeface="Arial"/>
              </a:rPr>
              <a:t>Um agente com todos os assuntos mistura domínios: aplica desconto sem confirmar a peça, sugere peça sem checar aplicação.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761488"/>
            <a:ext cx="36576" cy="566928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761488"/>
            <a:ext cx="99516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7"/>
                </a:solidFill>
                <a:latin typeface="Arial"/>
              </a:rPr>
              <a:t>Orquestrador sem ferramentas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35808"/>
            <a:ext cx="99516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8C6D8"/>
                </a:solidFill>
                <a:latin typeface="Arial"/>
              </a:rPr>
              <a:t>Ele só classifica. Sem arquivos, não tem como inventar preço ou estoque.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511296"/>
            <a:ext cx="36576" cy="566928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511296"/>
            <a:ext cx="99516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7"/>
                </a:solidFill>
                <a:latin typeface="Arial"/>
              </a:rPr>
              <a:t>Roteamento por condição no fluxo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85616"/>
            <a:ext cx="99516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8C6D8"/>
                </a:solidFill>
                <a:latin typeface="Arial"/>
              </a:rPr>
              <a:t>O caminho é explícito e auditável, visível no diagrama e no rastreamento.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261104"/>
            <a:ext cx="36576" cy="566928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4261104"/>
            <a:ext cx="99516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7"/>
                </a:solidFill>
                <a:latin typeface="Arial"/>
              </a:rPr>
              <a:t>Dois arquivos de catálogo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35424"/>
            <a:ext cx="99516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8C6D8"/>
                </a:solidFill>
                <a:latin typeface="Arial"/>
              </a:rPr>
              <a:t>O completo responde por veículo; o índice compacto responde por código. Foi o que fez a cotação funcionar.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5010912"/>
            <a:ext cx="36576" cy="566928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5010912"/>
            <a:ext cx="99516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AF2F7"/>
                </a:solidFill>
                <a:latin typeface="Arial"/>
              </a:rPr>
              <a:t>Modelo mini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285232"/>
            <a:ext cx="99516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A8C6D8"/>
                </a:solidFill>
                <a:latin typeface="Arial"/>
              </a:rPr>
              <a:t>A tarefa é classificar, buscar e formatar. Modelo maior custaria mais sem ganho.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9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A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10896"/>
            <a:ext cx="1018028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spc="200">
                <a:solidFill>
                  <a:srgbClr val="E8A857"/>
                </a:solidFill>
                <a:latin typeface="Arial"/>
              </a:rPr>
              <a:t>ANEXO  ·  NÃO APRESENTADO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8028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AF2F7"/>
                </a:solidFill>
                <a:latin typeface="Arial"/>
              </a:rPr>
              <a:t>Limites e encaminhamento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261872"/>
            <a:ext cx="101802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8C6D8"/>
                </a:solidFill>
                <a:latin typeface="Arial"/>
              </a:rPr>
              <a:t>Anexo — o que a solução ainda não cobre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664208"/>
            <a:ext cx="1463040" cy="32004"/>
          </a:xfrm>
          <a:prstGeom prst="rect">
            <a:avLst/>
          </a:prstGeom>
          <a:solidFill>
            <a:srgbClr val="7FC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2011680"/>
            <a:ext cx="10180289" cy="402336"/>
          </a:xfrm>
          <a:prstGeom prst="rect">
            <a:avLst/>
          </a:prstGeom>
          <a:solidFill>
            <a:srgbClr val="1C4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2011680"/>
            <a:ext cx="534312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FC4D8"/>
                </a:solidFill>
                <a:latin typeface="Arial"/>
              </a:rPr>
              <a:t>Limite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3014" y="2011680"/>
            <a:ext cx="43250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FC4D8"/>
                </a:solidFill>
                <a:latin typeface="Arial"/>
              </a:rPr>
              <a:t>Encaminhamento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414016"/>
            <a:ext cx="10180289" cy="402336"/>
          </a:xfrm>
          <a:prstGeom prst="rect">
            <a:avLst/>
          </a:prstGeom>
          <a:solidFill>
            <a:srgbClr val="163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414016"/>
            <a:ext cx="534312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Base é uma posição de 20/08/2026, sem tempo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3014" y="2414016"/>
            <a:ext cx="43250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Sincronização automática com o ERP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816352"/>
            <a:ext cx="534312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Sem controle de acesso por perfil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3014" y="2816352"/>
            <a:ext cx="43250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Restrição do projeto em produção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218688"/>
            <a:ext cx="10180289" cy="402336"/>
          </a:xfrm>
          <a:prstGeom prst="rect">
            <a:avLst/>
          </a:prstGeom>
          <a:solidFill>
            <a:srgbClr val="163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" y="3218688"/>
            <a:ext cx="534312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Bases indexadas em East US, não no Brasil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3014" y="3218688"/>
            <a:ext cx="43250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Provisionamento em Brazil South na implantação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3621024"/>
            <a:ext cx="534312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Até dez opções por resposta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3014" y="3621024"/>
            <a:ext cx="43250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Refinamento por marca, filial ou preço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23360"/>
            <a:ext cx="10180289" cy="402336"/>
          </a:xfrm>
          <a:prstGeom prst="rect">
            <a:avLst/>
          </a:prstGeom>
          <a:solidFill>
            <a:srgbClr val="163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" y="4023360"/>
            <a:ext cx="534312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Workflows do Foundry saem em 01/12/2026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3014" y="4023360"/>
            <a:ext cx="43250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Migrar o roteamento para Agent Framework ou Logic Apps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4425696"/>
            <a:ext cx="534312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A camada SQL + MCP da versão 1 ficou fora do escopo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3014" y="4425696"/>
            <a:ext cx="43250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EAF2F7"/>
                </a:solidFill>
                <a:latin typeface="Arial"/>
              </a:rPr>
              <a:t>Retomar quando "sem código" não for o critério dominante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5120640"/>
            <a:ext cx="10180289" cy="914400"/>
          </a:xfrm>
          <a:prstGeom prst="rect">
            <a:avLst/>
          </a:prstGeom>
          <a:solidFill>
            <a:srgbClr val="16354F"/>
          </a:solidFill>
          <a:ln w="9525">
            <a:solidFill>
              <a:srgbClr val="2D5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5303520"/>
            <a:ext cx="954020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FC4D8"/>
                </a:solidFill>
                <a:latin typeface="Arial"/>
              </a:rPr>
              <a:t>Sobre o prazo da plataforma: </a:t>
            </a:r>
            <a:r>
              <a:rPr sz="1200" b="0">
                <a:solidFill>
                  <a:srgbClr val="EAF2F7"/>
                </a:solidFill>
                <a:latin typeface="Arial"/>
              </a:rPr>
              <a:t>hoje não existe no Foundry um caminho de orquestração sem código com longevidade garantida. A escolha foi a melhor opção dentro da restrição, com a migração já mapeada.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